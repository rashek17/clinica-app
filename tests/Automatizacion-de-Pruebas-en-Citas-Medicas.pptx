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</p:embeddedFont>
    <p:embeddedFont>
      <p:font typeface="Saira Medium" panose="020B0604020202020204" charset="0"/>
      <p:regular r:id="rId16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55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Automatización de Pruebas en Citas Médicas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presentación detalla las pruebas automatizadas realizadas en el sistema de citas médicas. Cubrimos desde la funcionalidad completa hasta el rendimiento bajo carga.</a:t>
            </a:r>
            <a:b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b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Integrantes: </a:t>
            </a:r>
            <a:b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Luis Miguel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franco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perez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cod 56068</a:t>
            </a:r>
            <a:b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Jhoann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Esteban Reyes Higuera cod 40592</a:t>
            </a:r>
            <a:b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Hever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Andres Castano Suarez cod 40606</a:t>
            </a:r>
            <a:endParaRPr lang="en-US" sz="17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305F1C-CABE-4D99-B545-8F6DD35B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2025" y="7601394"/>
            <a:ext cx="223837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9886"/>
            <a:ext cx="8421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Flujo Completo de Citas Médicas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9882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8860" y="4941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Login y Creación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Validación de acceso y agendamiento de citas.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489882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2074" y="4941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94119" y="4976693"/>
            <a:ext cx="36116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Consulta y Reprogramación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94119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Verificación de visualización y modificación de citas.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8860" y="63261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361509"/>
            <a:ext cx="3479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Observación y Cancelación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 de adición de notas y anulación de citas.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2074" y="63261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94119" y="6361509"/>
            <a:ext cx="28666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Eliminación y Reporte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94119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Confirmación de borrado y generación de informes.</a:t>
            </a:r>
            <a:endParaRPr lang="en-US" sz="17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4D67589-23AB-4D73-AA42-B02FB4461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2025" y="7601394"/>
            <a:ext cx="223837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22421"/>
            <a:ext cx="66823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Herramientas de Pruebas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7136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Jest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555569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para pruebas automatizadas en JavaScript.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93" y="327136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7093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Supertest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07093" y="455556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Librería para simular peticiones HTTP a servidores.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395" y="327136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0395" y="406515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20395" y="4555569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donde se ejecutan las rutas y lógica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Test de Concurrencia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Múltiples Solicitudes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Envío de peticiones POST concurrentes para crear citas.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185642"/>
            <a:ext cx="2985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Mismo Horario/Médico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Intentos de agendar la misma hora con el mismo médico.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Manejo de Conflictos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permite una cita y rechaza duplicados.</a:t>
            </a:r>
            <a:endParaRPr lang="en-US" sz="1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ABBC8E-7850-48C4-9A21-B540B6264E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2025" y="7601394"/>
            <a:ext cx="223837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464" y="492166"/>
            <a:ext cx="7659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Prueba</a:t>
            </a: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de Carga con Artillery</a:t>
            </a:r>
            <a:b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</a:br>
            <a:endParaRPr lang="en-US" sz="44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Configuración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48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 usuarios accediendo a la ruta /pacientes.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segundos con 5 usuarios/segundo.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039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segundos con 10 usuarios/segundo.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13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Objetivo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2948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rendimiento y estabilidad del servidor bajo carga creciente.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Detectar respuesta del sistema y posibles cuellos de botella.</a:t>
            </a:r>
            <a:endParaRPr lang="en-US" sz="17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B7F8F50-83A8-4B72-8D43-EA0E043B3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025" y="7601394"/>
            <a:ext cx="2238375" cy="53340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759756BC-3989-4E11-B032-40743FAD6BFB}"/>
              </a:ext>
            </a:extLst>
          </p:cNvPr>
          <p:cNvSpPr/>
          <p:nvPr/>
        </p:nvSpPr>
        <p:spPr>
          <a:xfrm>
            <a:off x="793790" y="1635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O" sz="2400" dirty="0" err="1">
                <a:solidFill>
                  <a:schemeClr val="bg1"/>
                </a:solidFill>
              </a:rPr>
              <a:t>Artillery</a:t>
            </a:r>
            <a:r>
              <a:rPr lang="es-CO" sz="2400" dirty="0">
                <a:solidFill>
                  <a:schemeClr val="bg1"/>
                </a:solidFill>
              </a:rPr>
              <a:t> es una herramienta de </a:t>
            </a:r>
            <a:r>
              <a:rPr lang="es-CO" sz="2400" b="1" dirty="0">
                <a:solidFill>
                  <a:schemeClr val="bg1"/>
                </a:solidFill>
              </a:rPr>
              <a:t>pruebas de carga y rendimiento</a:t>
            </a:r>
            <a:r>
              <a:rPr lang="es-CO" sz="2400" dirty="0">
                <a:solidFill>
                  <a:schemeClr val="bg1"/>
                </a:solidFill>
              </a:rPr>
              <a:t> para aplicaciones web y </a:t>
            </a:r>
            <a:r>
              <a:rPr lang="es-CO" sz="2400" dirty="0" err="1">
                <a:solidFill>
                  <a:schemeClr val="bg1"/>
                </a:solidFill>
              </a:rPr>
              <a:t>APIs</a:t>
            </a:r>
            <a:r>
              <a:rPr lang="es-CO" sz="2400" dirty="0">
                <a:solidFill>
                  <a:schemeClr val="bg1"/>
                </a:solidFill>
              </a:rPr>
              <a:t>.</a:t>
            </a:r>
          </a:p>
          <a:p>
            <a:r>
              <a:rPr lang="es-CO" sz="2400" b="1" dirty="0">
                <a:solidFill>
                  <a:schemeClr val="bg1"/>
                </a:solidFill>
              </a:rPr>
              <a:t>¿Qué hace </a:t>
            </a:r>
            <a:r>
              <a:rPr lang="es-CO" sz="2400" b="1" dirty="0" err="1">
                <a:solidFill>
                  <a:schemeClr val="bg1"/>
                </a:solidFill>
              </a:rPr>
              <a:t>Artillery</a:t>
            </a:r>
            <a:r>
              <a:rPr lang="es-CO" sz="2400" b="1" dirty="0">
                <a:solidFill>
                  <a:schemeClr val="bg1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Simula muchos usuarios o solicitudes simultáneas para evaluar cómo responde tu sistema bajo estrés.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Mide tiempos de respuesta, tasa de errores, </a:t>
            </a:r>
            <a:r>
              <a:rPr lang="es-CO" sz="2400" dirty="0" err="1">
                <a:solidFill>
                  <a:schemeClr val="bg1"/>
                </a:solidFill>
              </a:rPr>
              <a:t>throughput</a:t>
            </a:r>
            <a:r>
              <a:rPr lang="es-CO" sz="2400" dirty="0">
                <a:solidFill>
                  <a:schemeClr val="bg1"/>
                </a:solidFill>
              </a:rPr>
              <a:t> (transacciones por segundo), uso de recursos,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Ayuda a identificar cuellos de botella y a asegurar que tu aplicación aguante la carga esperada en producción.</a:t>
            </a:r>
          </a:p>
          <a:p>
            <a:endParaRPr lang="es-CO" sz="2400" b="1" dirty="0">
              <a:solidFill>
                <a:schemeClr val="bg1"/>
              </a:solidFill>
            </a:endParaRPr>
          </a:p>
          <a:p>
            <a:endParaRPr lang="es-CO" sz="2400" b="1" dirty="0">
              <a:solidFill>
                <a:schemeClr val="bg1"/>
              </a:solidFill>
            </a:endParaRPr>
          </a:p>
          <a:p>
            <a:endParaRPr lang="es-CO" sz="2400" b="1" dirty="0">
              <a:solidFill>
                <a:schemeClr val="bg1"/>
              </a:solidFill>
            </a:endParaRPr>
          </a:p>
          <a:p>
            <a:endParaRPr lang="es-CO" sz="2400" b="1" dirty="0">
              <a:solidFill>
                <a:schemeClr val="bg1"/>
              </a:solidFill>
            </a:endParaRPr>
          </a:p>
          <a:p>
            <a:endParaRPr lang="es-CO" sz="2400" b="1" u="sng" dirty="0">
              <a:solidFill>
                <a:schemeClr val="bg1"/>
              </a:solidFill>
            </a:endParaRPr>
          </a:p>
          <a:p>
            <a:endParaRPr lang="es-CO" sz="2400" b="1" dirty="0">
              <a:solidFill>
                <a:schemeClr val="bg1"/>
              </a:solidFill>
            </a:endParaRPr>
          </a:p>
          <a:p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b="1" dirty="0">
                <a:solidFill>
                  <a:schemeClr val="bg1"/>
                </a:solidFill>
              </a:rPr>
              <a:t>Características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Soporta pruebas de carga para HTTP, </a:t>
            </a:r>
            <a:r>
              <a:rPr lang="es-CO" sz="2400" dirty="0" err="1">
                <a:solidFill>
                  <a:schemeClr val="bg1"/>
                </a:solidFill>
              </a:rPr>
              <a:t>WebSocket</a:t>
            </a:r>
            <a:r>
              <a:rPr lang="es-CO" sz="2400" dirty="0">
                <a:solidFill>
                  <a:schemeClr val="bg1"/>
                </a:solidFill>
              </a:rPr>
              <a:t>, y más.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Genera reportes detallados y métricas para análisis.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bg1"/>
                </a:solidFill>
              </a:rPr>
              <a:t>Es open-</a:t>
            </a:r>
            <a:r>
              <a:rPr lang="es-CO" sz="2400" dirty="0" err="1">
                <a:solidFill>
                  <a:schemeClr val="bg1"/>
                </a:solidFill>
              </a:rPr>
              <a:t>source</a:t>
            </a:r>
            <a:r>
              <a:rPr lang="es-CO" sz="2400" dirty="0">
                <a:solidFill>
                  <a:schemeClr val="bg1"/>
                </a:solidFill>
              </a:rPr>
              <a:t> y ampliamente usado para pruebas en </a:t>
            </a:r>
            <a:r>
              <a:rPr lang="es-CO" sz="2400" dirty="0" err="1">
                <a:solidFill>
                  <a:schemeClr val="bg1"/>
                </a:solidFill>
              </a:rPr>
              <a:t>backend</a:t>
            </a:r>
            <a:r>
              <a:rPr lang="es-CO" sz="2400" dirty="0">
                <a:solidFill>
                  <a:schemeClr val="bg1"/>
                </a:solidFill>
              </a:rPr>
              <a:t> y servicios web.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42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Prueba de Carga: Login y Crear Cita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91947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3191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Configuración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682365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segundos de prueba con 100 usuarios por segundo.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272082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42720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Flujo Simulado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76250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con usuario fijo y creación de cita médica.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352217"/>
            <a:ext cx="170021" cy="1216223"/>
          </a:xfrm>
          <a:prstGeom prst="roundRect">
            <a:avLst>
              <a:gd name="adj" fmla="val 1200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5352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Resultado Esperado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842635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Medir capacidad del servidor para manejar múltiples solicitudes sin fallos.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76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Análisis de Resultados de Prueba de Carga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34377"/>
            <a:ext cx="7556421" cy="4718447"/>
          </a:xfrm>
          <a:prstGeom prst="roundRect">
            <a:avLst>
              <a:gd name="adj" fmla="val 432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641997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78570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Solicitudes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78570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realizadas, exitosas y fallidas (%).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65521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379892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79892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Porcentaje de tiempo que el sistema estuvo operativo.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4668441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481214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de Respuesta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812149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promedio de respuesta (ms).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5681663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8224" y="582537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Throughput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582537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Transacciones por segundo.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6331982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8224" y="647569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Recursos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02624" y="6475690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Carga promedio de CPU y uso de memoria RAM.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61292"/>
            <a:ext cx="67192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Prueba E2E con Selenium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10232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3059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Automatización Web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43464" y="3550325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 el flujo completo de uso del sistema web de citas médicas.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10232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141" y="3059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Pasos Clave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5141" y="3550325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Login, creación de cita, confirmación y acceso a paneles de roles.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352669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464" y="5365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Tecnologías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3464" y="5855613"/>
            <a:ext cx="70570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Selenium WebDriver con ChromeDriver y Node.js.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503</Words>
  <Application>Microsoft Office PowerPoint</Application>
  <PresentationFormat>Personalizado</PresentationFormat>
  <Paragraphs>86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Saira Medium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Andres Castaño</cp:lastModifiedBy>
  <cp:revision>3</cp:revision>
  <dcterms:created xsi:type="dcterms:W3CDTF">2025-06-05T18:19:16Z</dcterms:created>
  <dcterms:modified xsi:type="dcterms:W3CDTF">2025-06-05T18:26:56Z</dcterms:modified>
</cp:coreProperties>
</file>